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9144000" cy="5143500" type="screen16x9"/>
  <p:notesSz cx="6858000" cy="9144000"/>
  <p:embeddedFontLst>
    <p:embeddedFont>
      <p:font typeface="Raleway"/>
      <p:regular r:id="rId18"/>
    </p:embeddedFont>
    <p:embeddedFont>
      <p:font typeface="Lato" panose="020F0502020204030203"/>
      <p:regular r:id="rId19"/>
    </p:embeddedFont>
    <p:embeddedFont>
      <p:font typeface="Raleway SemiBold"/>
      <p:regular r:id="rId20"/>
      <p:bold r:id="rId21"/>
      <p:italic r:id="rId22"/>
      <p:boldItalic r:id="rId23"/>
    </p:embeddedFont>
    <p:embeddedFont>
      <p:font typeface="Lexend Medium"/>
      <p:regular r:id="rId24"/>
    </p:embeddedFont>
    <p:embeddedFont>
      <p:font typeface="Lexend SemiBold"/>
      <p:regular r:id="rId25"/>
      <p:bold r:id="rId26"/>
    </p:embeddedFont>
    <p:embeddedFont>
      <p:font typeface="Lexend"/>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modifyVerifier cryptProviderType="rsaFull" cryptAlgorithmClass="hash" cryptAlgorithmType="typeAny" cryptAlgorithmSid="4" spinCount="100000" saltData="r7LRdfew7g9MXrMc2OloxA==" hashData="XlTsjWIdZFuHx6WLjNmbbKwGw7M="/>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97" d="100"/>
          <a:sy n="97" d="100"/>
        </p:scale>
        <p:origin x="104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11.fntdata"/><Relationship Id="rId27" Type="http://schemas.openxmlformats.org/officeDocument/2006/relationships/font" Target="fonts/font10.fntdata"/><Relationship Id="rId26" Type="http://schemas.openxmlformats.org/officeDocument/2006/relationships/font" Target="fonts/font9.fntdata"/><Relationship Id="rId25" Type="http://schemas.openxmlformats.org/officeDocument/2006/relationships/font" Target="fonts/font8.fntdata"/><Relationship Id="rId24" Type="http://schemas.openxmlformats.org/officeDocument/2006/relationships/font" Target="fonts/font7.fntdata"/><Relationship Id="rId23" Type="http://schemas.openxmlformats.org/officeDocument/2006/relationships/font" Target="fonts/font6.fntdata"/><Relationship Id="rId22" Type="http://schemas.openxmlformats.org/officeDocument/2006/relationships/font" Target="fonts/font5.fntdata"/><Relationship Id="rId21" Type="http://schemas.openxmlformats.org/officeDocument/2006/relationships/font" Target="fonts/font4.fntdata"/><Relationship Id="rId20" Type="http://schemas.openxmlformats.org/officeDocument/2006/relationships/font" Target="fonts/font3.fntdata"/><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8"/>
        <p:cNvGrpSpPr/>
        <p:nvPr/>
      </p:nvGrpSpPr>
      <p:grpSpPr>
        <a:xfrm>
          <a:off x="0" y="0"/>
          <a:ext cx="0" cy="0"/>
          <a:chOff x="0" y="0"/>
          <a:chExt cx="0" cy="0"/>
        </a:xfrm>
      </p:grpSpPr>
      <p:sp>
        <p:nvSpPr>
          <p:cNvPr id="69" name="Google Shape;69;gcb9a0b07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cb9a0b07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5"/>
        <p:cNvGrpSpPr/>
        <p:nvPr/>
      </p:nvGrpSpPr>
      <p:grpSpPr>
        <a:xfrm>
          <a:off x="0" y="0"/>
          <a:ext cx="0" cy="0"/>
          <a:chOff x="0" y="0"/>
          <a:chExt cx="0" cy="0"/>
        </a:xfrm>
      </p:grpSpPr>
      <p:sp>
        <p:nvSpPr>
          <p:cNvPr id="76" name="Google Shape;76;gd5b15f0a3_5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d5b15f0a3_5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1"/>
        <p:cNvGrpSpPr/>
        <p:nvPr/>
      </p:nvGrpSpPr>
      <p:grpSpPr>
        <a:xfrm>
          <a:off x="0" y="0"/>
          <a:ext cx="0" cy="0"/>
          <a:chOff x="0" y="0"/>
          <a:chExt cx="0" cy="0"/>
        </a:xfrm>
      </p:grpSpPr>
      <p:sp>
        <p:nvSpPr>
          <p:cNvPr id="82" name="Google Shape;82;g723630543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72363054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gd251bb473_0_6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d251bb473_0_6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gd251bb473_0_6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d251bb473_0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ge965474a9_3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e965474a9_3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7"/>
        <p:cNvGrpSpPr/>
        <p:nvPr/>
      </p:nvGrpSpPr>
      <p:grpSpPr>
        <a:xfrm>
          <a:off x="0" y="0"/>
          <a:ext cx="0" cy="0"/>
          <a:chOff x="0" y="0"/>
          <a:chExt cx="0" cy="0"/>
        </a:xfrm>
      </p:grpSpPr>
      <p:sp>
        <p:nvSpPr>
          <p:cNvPr id="108" name="Google Shape;108;gcb9a0b074_1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cb9a0b074_1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g723630543_1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723630543_1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9"/>
        <p:cNvGrpSpPr/>
        <p:nvPr/>
      </p:nvGrpSpPr>
      <p:grpSpPr>
        <a:xfrm>
          <a:off x="0" y="0"/>
          <a:ext cx="0" cy="0"/>
          <a:chOff x="0" y="0"/>
          <a:chExt cx="0" cy="0"/>
        </a:xfrm>
      </p:grpSpPr>
      <p:sp>
        <p:nvSpPr>
          <p:cNvPr id="120" name="Google Shape;120;gd814cf7d3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d814cf7d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5"/>
        <p:cNvGrpSpPr/>
        <p:nvPr/>
      </p:nvGrpSpPr>
      <p:grpSpPr>
        <a:xfrm>
          <a:off x="0" y="0"/>
          <a:ext cx="0" cy="0"/>
          <a:chOff x="0" y="0"/>
          <a:chExt cx="0" cy="0"/>
        </a:xfrm>
      </p:grpSpPr>
      <p:sp>
        <p:nvSpPr>
          <p:cNvPr id="126" name="Google Shape;126;g723630543_5_2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723630543_5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gcb9a0b074_1_12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cb9a0b074_1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w="38100" cap="flat" cmpd="sng">
            <a:solidFill>
              <a:schemeClr val="lt1"/>
            </a:solidFill>
            <a:prstDash val="solid"/>
            <a:round/>
            <a:headEnd type="none" w="sm" len="sm"/>
            <a:tailEnd type="none" w="sm" len="sm"/>
          </a:ln>
        </p:spPr>
      </p:cxnSp>
      <p:cxnSp>
        <p:nvCxnSpPr>
          <p:cNvPr id="11" name="Google Shape;11;p2"/>
          <p:cNvCxnSpPr/>
          <p:nvPr/>
        </p:nvCxnSpPr>
        <p:spPr>
          <a:xfrm>
            <a:off x="2477724" y="4740000"/>
            <a:ext cx="6244200" cy="0"/>
          </a:xfrm>
          <a:prstGeom prst="straightConnector1">
            <a:avLst/>
          </a:prstGeom>
          <a:noFill/>
          <a:ln w="19050" cap="flat" cmpd="sng">
            <a:solidFill>
              <a:schemeClr val="lt1"/>
            </a:solidFill>
            <a:prstDash val="solid"/>
            <a:round/>
            <a:headEnd type="none" w="sm" len="sm"/>
            <a:tailEnd type="none" w="sm" len="sm"/>
          </a:ln>
        </p:spPr>
      </p:cxnSp>
      <p:cxnSp>
        <p:nvCxnSpPr>
          <p:cNvPr id="12" name="Google Shape;12;p2"/>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13" name="Google Shape;13;p2"/>
          <p:cNvSpPr txBox="1">
            <a:spLocks noGrp="1"/>
          </p:cNvSpPr>
          <p:nvPr>
            <p:ph type="ctrTitle"/>
          </p:nvPr>
        </p:nvSpPr>
        <p:spPr>
          <a:xfrm>
            <a:off x="2371725" y="630225"/>
            <a:ext cx="6331500" cy="1542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a:spLocks noGrp="1"/>
          </p:cNvSpPr>
          <p:nvPr>
            <p:ph type="subTitle" idx="1"/>
          </p:nvPr>
        </p:nvSpPr>
        <p:spPr>
          <a:xfrm>
            <a:off x="2390267" y="3238450"/>
            <a:ext cx="6331500" cy="1241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chemeClr val="dk1"/>
        </a:solidFill>
        <a:effectLst/>
      </p:bgPr>
    </p:bg>
    <p:spTree>
      <p:nvGrpSpPr>
        <p:cNvPr id="1"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w="38100" cap="flat" cmpd="sng">
            <a:solidFill>
              <a:schemeClr val="lt1"/>
            </a:solidFill>
            <a:prstDash val="solid"/>
            <a:round/>
            <a:headEnd type="none" w="sm" len="sm"/>
            <a:tailEnd type="none" w="sm" len="sm"/>
          </a:ln>
        </p:spPr>
      </p:cxnSp>
      <p:cxnSp>
        <p:nvCxnSpPr>
          <p:cNvPr id="18" name="Google Shape;18;p3"/>
          <p:cNvCxnSpPr/>
          <p:nvPr/>
        </p:nvCxnSpPr>
        <p:spPr>
          <a:xfrm>
            <a:off x="425200" y="4740000"/>
            <a:ext cx="8296800" cy="0"/>
          </a:xfrm>
          <a:prstGeom prst="straightConnector1">
            <a:avLst/>
          </a:prstGeom>
          <a:noFill/>
          <a:ln w="19050" cap="flat" cmpd="sng">
            <a:solidFill>
              <a:schemeClr val="lt1"/>
            </a:solidFill>
            <a:prstDash val="solid"/>
            <a:round/>
            <a:headEnd type="none" w="sm" len="sm"/>
            <a:tailEnd type="none" w="sm" len="sm"/>
          </a:ln>
        </p:spPr>
      </p:cxnSp>
      <p:sp>
        <p:nvSpPr>
          <p:cNvPr id="19" name="Google Shape;19;p3"/>
          <p:cNvSpPr txBox="1">
            <a:spLocks noGrp="1"/>
          </p:cNvSpPr>
          <p:nvPr>
            <p:ph type="title"/>
          </p:nvPr>
        </p:nvSpPr>
        <p:spPr>
          <a:xfrm>
            <a:off x="406425" y="1806825"/>
            <a:ext cx="8296800" cy="1542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p:txBody>
      </p:sp>
      <p:sp>
        <p:nvSpPr>
          <p:cNvPr id="20" name="Google Shape;20;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23" name="Google Shape;23;p4"/>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24" name="Google Shape;24;p4"/>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25" name="Google Shape;25;p4"/>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p:txBody>
      </p:sp>
      <p:sp>
        <p:nvSpPr>
          <p:cNvPr id="27" name="Google Shape;27;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30" name="Google Shape;30;p5"/>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31" name="Google Shape;31;p5"/>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32" name="Google Shape;32;p5"/>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a:spLocks noGrp="1"/>
          </p:cNvSpPr>
          <p:nvPr>
            <p:ph type="body" idx="1"/>
          </p:nvPr>
        </p:nvSpPr>
        <p:spPr>
          <a:xfrm>
            <a:off x="2400303" y="1602675"/>
            <a:ext cx="3071400" cy="3002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p:txBody>
      </p:sp>
      <p:sp>
        <p:nvSpPr>
          <p:cNvPr id="34" name="Google Shape;34;p5"/>
          <p:cNvSpPr txBox="1">
            <a:spLocks noGrp="1"/>
          </p:cNvSpPr>
          <p:nvPr>
            <p:ph type="body" idx="2"/>
          </p:nvPr>
        </p:nvSpPr>
        <p:spPr>
          <a:xfrm>
            <a:off x="5650572" y="1602675"/>
            <a:ext cx="3071400" cy="3002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p:txBody>
      </p:sp>
      <p:sp>
        <p:nvSpPr>
          <p:cNvPr id="35" name="Google Shape;35;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41" name="Google Shape;41;p7"/>
          <p:cNvSpPr txBox="1">
            <a:spLocks noGrp="1"/>
          </p:cNvSpPr>
          <p:nvPr>
            <p:ph type="title"/>
          </p:nvPr>
        </p:nvSpPr>
        <p:spPr>
          <a:xfrm>
            <a:off x="319500" y="936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a:spLocks noGrp="1"/>
          </p:cNvSpPr>
          <p:nvPr>
            <p:ph type="body" idx="1"/>
          </p:nvPr>
        </p:nvSpPr>
        <p:spPr>
          <a:xfrm>
            <a:off x="319500" y="1846804"/>
            <a:ext cx="2808000" cy="28062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p:txBody>
      </p:sp>
      <p:sp>
        <p:nvSpPr>
          <p:cNvPr id="43" name="Google Shape;4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rgbClr val="353535"/>
        </a:solidFill>
        <a:effectLst/>
      </p:bgPr>
    </p:bg>
    <p:spTree>
      <p:nvGrpSpPr>
        <p:cNvPr id="1"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46" name="Google Shape;46;p8"/>
          <p:cNvSpPr txBox="1">
            <a:spLocks noGrp="1"/>
          </p:cNvSpPr>
          <p:nvPr>
            <p:ph type="title"/>
          </p:nvPr>
        </p:nvSpPr>
        <p:spPr>
          <a:xfrm>
            <a:off x="283103" y="712141"/>
            <a:ext cx="6244200" cy="3835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50" name="Google Shape;50;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51" name="Google Shape;51;p9"/>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3600"/>
              <a:buNone/>
              <a:defRPr sz="3600">
                <a:solidFill>
                  <a:schemeClr val="dk1"/>
                </a:solidFill>
              </a:defRPr>
            </a:lvl1pPr>
            <a:lvl2pPr lvl="1" algn="ctr" rtl="0">
              <a:spcBef>
                <a:spcPts val="0"/>
              </a:spcBef>
              <a:spcAft>
                <a:spcPts val="0"/>
              </a:spcAft>
              <a:buClr>
                <a:schemeClr val="dk1"/>
              </a:buClr>
              <a:buSzPts val="3600"/>
              <a:buNone/>
              <a:defRPr sz="3600">
                <a:solidFill>
                  <a:schemeClr val="dk1"/>
                </a:solidFill>
              </a:defRPr>
            </a:lvl2pPr>
            <a:lvl3pPr lvl="2" algn="ctr" rtl="0">
              <a:spcBef>
                <a:spcPts val="0"/>
              </a:spcBef>
              <a:spcAft>
                <a:spcPts val="0"/>
              </a:spcAft>
              <a:buClr>
                <a:schemeClr val="dk1"/>
              </a:buClr>
              <a:buSzPts val="3600"/>
              <a:buNone/>
              <a:defRPr sz="3600">
                <a:solidFill>
                  <a:schemeClr val="dk1"/>
                </a:solidFill>
              </a:defRPr>
            </a:lvl3pPr>
            <a:lvl4pPr lvl="3" algn="ctr" rtl="0">
              <a:spcBef>
                <a:spcPts val="0"/>
              </a:spcBef>
              <a:spcAft>
                <a:spcPts val="0"/>
              </a:spcAft>
              <a:buClr>
                <a:schemeClr val="dk1"/>
              </a:buClr>
              <a:buSzPts val="3600"/>
              <a:buNone/>
              <a:defRPr sz="3600">
                <a:solidFill>
                  <a:schemeClr val="dk1"/>
                </a:solidFill>
              </a:defRPr>
            </a:lvl4pPr>
            <a:lvl5pPr lvl="4" algn="ctr" rtl="0">
              <a:spcBef>
                <a:spcPts val="0"/>
              </a:spcBef>
              <a:spcAft>
                <a:spcPts val="0"/>
              </a:spcAft>
              <a:buClr>
                <a:schemeClr val="dk1"/>
              </a:buClr>
              <a:buSzPts val="3600"/>
              <a:buNone/>
              <a:defRPr sz="3600">
                <a:solidFill>
                  <a:schemeClr val="dk1"/>
                </a:solidFill>
              </a:defRPr>
            </a:lvl5pPr>
            <a:lvl6pPr lvl="5" algn="ctr" rtl="0">
              <a:spcBef>
                <a:spcPts val="0"/>
              </a:spcBef>
              <a:spcAft>
                <a:spcPts val="0"/>
              </a:spcAft>
              <a:buClr>
                <a:schemeClr val="dk1"/>
              </a:buClr>
              <a:buSzPts val="3600"/>
              <a:buNone/>
              <a:defRPr sz="3600">
                <a:solidFill>
                  <a:schemeClr val="dk1"/>
                </a:solidFill>
              </a:defRPr>
            </a:lvl6pPr>
            <a:lvl7pPr lvl="6" algn="ctr" rtl="0">
              <a:spcBef>
                <a:spcPts val="0"/>
              </a:spcBef>
              <a:spcAft>
                <a:spcPts val="0"/>
              </a:spcAft>
              <a:buClr>
                <a:schemeClr val="dk1"/>
              </a:buClr>
              <a:buSzPts val="3600"/>
              <a:buNone/>
              <a:defRPr sz="3600">
                <a:solidFill>
                  <a:schemeClr val="dk1"/>
                </a:solidFill>
              </a:defRPr>
            </a:lvl7pPr>
            <a:lvl8pPr lvl="7" algn="ctr" rtl="0">
              <a:spcBef>
                <a:spcPts val="0"/>
              </a:spcBef>
              <a:spcAft>
                <a:spcPts val="0"/>
              </a:spcAft>
              <a:buClr>
                <a:schemeClr val="dk1"/>
              </a:buClr>
              <a:buSzPts val="3600"/>
              <a:buNone/>
              <a:defRPr sz="3600">
                <a:solidFill>
                  <a:schemeClr val="dk1"/>
                </a:solidFill>
              </a:defRPr>
            </a:lvl8pPr>
            <a:lvl9pPr lvl="8" algn="ctr" rtl="0">
              <a:spcBef>
                <a:spcPts val="0"/>
              </a:spcBef>
              <a:spcAft>
                <a:spcPts val="0"/>
              </a:spcAft>
              <a:buClr>
                <a:schemeClr val="dk1"/>
              </a:buClr>
              <a:buSzPts val="3600"/>
              <a:buNone/>
              <a:defRPr sz="3600">
                <a:solidFill>
                  <a:schemeClr val="dk1"/>
                </a:solidFill>
              </a:defRPr>
            </a:lvl9pPr>
          </a:lstStyle>
          <a:p/>
        </p:txBody>
      </p:sp>
      <p:sp>
        <p:nvSpPr>
          <p:cNvPr id="52" name="Google Shape;52;p9"/>
          <p:cNvSpPr txBox="1">
            <a:spLocks noGrp="1"/>
          </p:cNvSpPr>
          <p:nvPr>
            <p:ph type="subTitle" idx="1"/>
          </p:nvPr>
        </p:nvSpPr>
        <p:spPr>
          <a:xfrm>
            <a:off x="265500" y="2735371"/>
            <a:ext cx="4045200" cy="134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sp>
        <p:nvSpPr>
          <p:cNvPr id="53" name="Google Shape;5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57" name="Google Shape;57;p10"/>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58" name="Google Shape;58;p10"/>
          <p:cNvSpPr txBox="1">
            <a:spLocks noGrp="1"/>
          </p:cNvSpPr>
          <p:nvPr>
            <p:ph type="body" idx="1"/>
          </p:nvPr>
        </p:nvSpPr>
        <p:spPr>
          <a:xfrm>
            <a:off x="328017" y="4226025"/>
            <a:ext cx="8388600" cy="3936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p:txBody>
      </p:sp>
      <p:sp>
        <p:nvSpPr>
          <p:cNvPr id="59" name="Google Shape;59;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62" name="Google Shape;62;p11"/>
          <p:cNvCxnSpPr/>
          <p:nvPr/>
        </p:nvCxnSpPr>
        <p:spPr>
          <a:xfrm>
            <a:off x="425200" y="415650"/>
            <a:ext cx="8296800" cy="0"/>
          </a:xfrm>
          <a:prstGeom prst="straightConnector1">
            <a:avLst/>
          </a:prstGeom>
          <a:noFill/>
          <a:ln w="38100" cap="flat" cmpd="sng">
            <a:solidFill>
              <a:schemeClr val="dk2"/>
            </a:solidFill>
            <a:prstDash val="solid"/>
            <a:round/>
            <a:headEnd type="none" w="sm" len="sm"/>
            <a:tailEnd type="none" w="sm" len="sm"/>
          </a:ln>
        </p:spPr>
      </p:cxnSp>
      <p:sp>
        <p:nvSpPr>
          <p:cNvPr id="63" name="Google Shape;63;p11"/>
          <p:cNvSpPr txBox="1">
            <a:spLocks noGrp="1"/>
          </p:cNvSpPr>
          <p:nvPr>
            <p:ph type="title" hasCustomPrompt="1"/>
          </p:nvPr>
        </p:nvSpPr>
        <p:spPr>
          <a:xfrm>
            <a:off x="853950" y="1304850"/>
            <a:ext cx="7436100" cy="1538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1pPr>
            <a:lvl2pPr lvl="1"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2pPr>
            <a:lvl3pPr lvl="2"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3pPr>
            <a:lvl4pPr lvl="3"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4pPr>
            <a:lvl5pPr lvl="4"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5pPr>
            <a:lvl6pPr lvl="5"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6pPr>
            <a:lvl7pPr lvl="6"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7pPr>
            <a:lvl8pPr lvl="7"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8pPr>
            <a:lvl9pPr lvl="8"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9pPr>
          </a:lstStyle>
          <a:p>
            <a:r>
              <a:t>xx%</a:t>
            </a:r>
          </a:p>
        </p:txBody>
      </p:sp>
      <p:sp>
        <p:nvSpPr>
          <p:cNvPr id="64" name="Google Shape;64;p11"/>
          <p:cNvSpPr txBox="1">
            <a:spLocks noGrp="1"/>
          </p:cNvSpPr>
          <p:nvPr>
            <p:ph type="body" idx="1"/>
          </p:nvPr>
        </p:nvSpPr>
        <p:spPr>
          <a:xfrm>
            <a:off x="853950" y="2919450"/>
            <a:ext cx="7436100" cy="10716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p:txBody>
      </p:sp>
      <p:sp>
        <p:nvSpPr>
          <p:cNvPr id="65" name="Google Shape;65;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66"/>
        <p:cNvGrpSpPr/>
        <p:nvPr/>
      </p:nvGrpSpPr>
      <p:grpSpPr>
        <a:xfrm>
          <a:off x="0" y="0"/>
          <a:ext cx="0" cy="0"/>
          <a:chOff x="0" y="0"/>
          <a:chExt cx="0" cy="0"/>
        </a:xfrm>
      </p:grpSpPr>
      <p:sp>
        <p:nvSpPr>
          <p:cNvPr id="67" name="Google Shape;67;p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400250" y="575950"/>
            <a:ext cx="6321600" cy="6354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p:txBody>
      </p:sp>
      <p:sp>
        <p:nvSpPr>
          <p:cNvPr id="7" name="Google Shape;7;p1"/>
          <p:cNvSpPr txBox="1">
            <a:spLocks noGrp="1"/>
          </p:cNvSpPr>
          <p:nvPr>
            <p:ph type="body" idx="1"/>
          </p:nvPr>
        </p:nvSpPr>
        <p:spPr>
          <a:xfrm>
            <a:off x="2410112" y="1595776"/>
            <a:ext cx="6321600" cy="3002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Lato" panose="020F0502020204030203"/>
              <a:buChar char="●"/>
              <a:defRPr sz="1800">
                <a:solidFill>
                  <a:schemeClr val="dk2"/>
                </a:solidFill>
                <a:latin typeface="Lato" panose="020F0502020204030203"/>
                <a:ea typeface="Lato" panose="020F0502020204030203"/>
                <a:cs typeface="Lato" panose="020F0502020204030203"/>
                <a:sym typeface="Lato" panose="020F0502020204030203"/>
              </a:defRPr>
            </a:lvl1pPr>
            <a:lvl2pPr marL="914400" lvl="1" indent="-317500" rtl="0">
              <a:lnSpc>
                <a:spcPct val="115000"/>
              </a:lnSpc>
              <a:spcBef>
                <a:spcPts val="160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2pPr>
            <a:lvl3pPr marL="1371600" lvl="2" indent="-317500" rtl="0">
              <a:lnSpc>
                <a:spcPct val="115000"/>
              </a:lnSpc>
              <a:spcBef>
                <a:spcPts val="160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3pPr>
            <a:lvl4pPr marL="1828800" lvl="3" indent="-317500" rtl="0">
              <a:lnSpc>
                <a:spcPct val="115000"/>
              </a:lnSpc>
              <a:spcBef>
                <a:spcPts val="160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4pPr>
            <a:lvl5pPr marL="2286000" lvl="4" indent="-317500" rtl="0">
              <a:lnSpc>
                <a:spcPct val="115000"/>
              </a:lnSpc>
              <a:spcBef>
                <a:spcPts val="160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5pPr>
            <a:lvl6pPr marL="2743200" lvl="5" indent="-317500" rtl="0">
              <a:lnSpc>
                <a:spcPct val="115000"/>
              </a:lnSpc>
              <a:spcBef>
                <a:spcPts val="160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6pPr>
            <a:lvl7pPr marL="3200400" lvl="6" indent="-317500" rtl="0">
              <a:lnSpc>
                <a:spcPct val="115000"/>
              </a:lnSpc>
              <a:spcBef>
                <a:spcPts val="160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7pPr>
            <a:lvl8pPr marL="3657600" lvl="7" indent="-317500" rtl="0">
              <a:lnSpc>
                <a:spcPct val="115000"/>
              </a:lnSpc>
              <a:spcBef>
                <a:spcPts val="160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8pPr>
            <a:lvl9pPr marL="4114800" lvl="8" indent="-317500" rtl="0">
              <a:lnSpc>
                <a:spcPct val="115000"/>
              </a:lnSpc>
              <a:spcBef>
                <a:spcPts val="1600"/>
              </a:spcBef>
              <a:spcAft>
                <a:spcPts val="160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9pPr>
          </a:lstStyle>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Lato" panose="020F0502020204030203"/>
                <a:ea typeface="Lato" panose="020F0502020204030203"/>
                <a:cs typeface="Lato" panose="020F0502020204030203"/>
                <a:sym typeface="Lato" panose="020F0502020204030203"/>
              </a:defRPr>
            </a:lvl1pPr>
            <a:lvl2pPr lvl="1" algn="r" rtl="0">
              <a:buNone/>
              <a:defRPr sz="1000">
                <a:solidFill>
                  <a:schemeClr val="dk2"/>
                </a:solidFill>
                <a:latin typeface="Lato" panose="020F0502020204030203"/>
                <a:ea typeface="Lato" panose="020F0502020204030203"/>
                <a:cs typeface="Lato" panose="020F0502020204030203"/>
                <a:sym typeface="Lato" panose="020F0502020204030203"/>
              </a:defRPr>
            </a:lvl2pPr>
            <a:lvl3pPr lvl="2" algn="r" rtl="0">
              <a:buNone/>
              <a:defRPr sz="1000">
                <a:solidFill>
                  <a:schemeClr val="dk2"/>
                </a:solidFill>
                <a:latin typeface="Lato" panose="020F0502020204030203"/>
                <a:ea typeface="Lato" panose="020F0502020204030203"/>
                <a:cs typeface="Lato" panose="020F0502020204030203"/>
                <a:sym typeface="Lato" panose="020F0502020204030203"/>
              </a:defRPr>
            </a:lvl3pPr>
            <a:lvl4pPr lvl="3" algn="r" rtl="0">
              <a:buNone/>
              <a:defRPr sz="1000">
                <a:solidFill>
                  <a:schemeClr val="dk2"/>
                </a:solidFill>
                <a:latin typeface="Lato" panose="020F0502020204030203"/>
                <a:ea typeface="Lato" panose="020F0502020204030203"/>
                <a:cs typeface="Lato" panose="020F0502020204030203"/>
                <a:sym typeface="Lato" panose="020F0502020204030203"/>
              </a:defRPr>
            </a:lvl4pPr>
            <a:lvl5pPr lvl="4" algn="r" rtl="0">
              <a:buNone/>
              <a:defRPr sz="1000">
                <a:solidFill>
                  <a:schemeClr val="dk2"/>
                </a:solidFill>
                <a:latin typeface="Lato" panose="020F0502020204030203"/>
                <a:ea typeface="Lato" panose="020F0502020204030203"/>
                <a:cs typeface="Lato" panose="020F0502020204030203"/>
                <a:sym typeface="Lato" panose="020F0502020204030203"/>
              </a:defRPr>
            </a:lvl5pPr>
            <a:lvl6pPr lvl="5" algn="r" rtl="0">
              <a:buNone/>
              <a:defRPr sz="1000">
                <a:solidFill>
                  <a:schemeClr val="dk2"/>
                </a:solidFill>
                <a:latin typeface="Lato" panose="020F0502020204030203"/>
                <a:ea typeface="Lato" panose="020F0502020204030203"/>
                <a:cs typeface="Lato" panose="020F0502020204030203"/>
                <a:sym typeface="Lato" panose="020F0502020204030203"/>
              </a:defRPr>
            </a:lvl6pPr>
            <a:lvl7pPr lvl="6" algn="r" rtl="0">
              <a:buNone/>
              <a:defRPr sz="1000">
                <a:solidFill>
                  <a:schemeClr val="dk2"/>
                </a:solidFill>
                <a:latin typeface="Lato" panose="020F0502020204030203"/>
                <a:ea typeface="Lato" panose="020F0502020204030203"/>
                <a:cs typeface="Lato" panose="020F0502020204030203"/>
                <a:sym typeface="Lato" panose="020F0502020204030203"/>
              </a:defRPr>
            </a:lvl7pPr>
            <a:lvl8pPr lvl="7" algn="r" rtl="0">
              <a:buNone/>
              <a:defRPr sz="1000">
                <a:solidFill>
                  <a:schemeClr val="dk2"/>
                </a:solidFill>
                <a:latin typeface="Lato" panose="020F0502020204030203"/>
                <a:ea typeface="Lato" panose="020F0502020204030203"/>
                <a:cs typeface="Lato" panose="020F0502020204030203"/>
                <a:sym typeface="Lato" panose="020F0502020204030203"/>
              </a:defRPr>
            </a:lvl8pPr>
            <a:lvl9pPr lvl="8" algn="r" rtl="0">
              <a:buNone/>
              <a:defRPr sz="1000">
                <a:solidFill>
                  <a:schemeClr val="dk2"/>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3"/>
          <p:cNvSpPr txBox="1">
            <a:spLocks noGrp="1"/>
          </p:cNvSpPr>
          <p:nvPr>
            <p:ph type="ctrTitle"/>
          </p:nvPr>
        </p:nvSpPr>
        <p:spPr>
          <a:xfrm>
            <a:off x="1375750" y="630225"/>
            <a:ext cx="7327500" cy="154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4500"/>
              <a:t>CAPSTONE PROJECT-01</a:t>
            </a:r>
            <a:endParaRPr sz="4500"/>
          </a:p>
          <a:p>
            <a:pPr marL="0" lvl="0" indent="0" algn="l" rtl="0">
              <a:spcBef>
                <a:spcPts val="0"/>
              </a:spcBef>
              <a:spcAft>
                <a:spcPts val="0"/>
              </a:spcAft>
              <a:buNone/>
            </a:pPr>
            <a:r>
              <a:rPr lang="en-GB" sz="4000"/>
              <a:t>CUSTOMER DATA ANALYSIS</a:t>
            </a:r>
            <a:endParaRPr sz="4000"/>
          </a:p>
        </p:txBody>
      </p:sp>
      <p:sp>
        <p:nvSpPr>
          <p:cNvPr id="73" name="Google Shape;73;p13"/>
          <p:cNvSpPr txBox="1"/>
          <p:nvPr/>
        </p:nvSpPr>
        <p:spPr>
          <a:xfrm>
            <a:off x="1485475" y="2148250"/>
            <a:ext cx="6775800" cy="75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lt1"/>
                </a:solidFill>
                <a:latin typeface="Raleway SemiBold"/>
                <a:ea typeface="Raleway SemiBold"/>
                <a:cs typeface="Raleway SemiBold"/>
                <a:sym typeface="Raleway SemiBold"/>
              </a:rPr>
              <a:t>PTID-CDA-OCT-25-803</a:t>
            </a:r>
            <a:endParaRPr sz="1800">
              <a:solidFill>
                <a:schemeClr val="lt1"/>
              </a:solidFill>
              <a:latin typeface="Raleway SemiBold"/>
              <a:ea typeface="Raleway SemiBold"/>
              <a:cs typeface="Raleway SemiBold"/>
              <a:sym typeface="Raleway SemiBold"/>
            </a:endParaRPr>
          </a:p>
          <a:p>
            <a:pPr marL="0" lvl="0" indent="0" algn="l" rtl="0">
              <a:spcBef>
                <a:spcPts val="0"/>
              </a:spcBef>
              <a:spcAft>
                <a:spcPts val="0"/>
              </a:spcAft>
              <a:buNone/>
            </a:pPr>
            <a:r>
              <a:rPr lang="en-GB" sz="1800">
                <a:solidFill>
                  <a:schemeClr val="lt1"/>
                </a:solidFill>
                <a:latin typeface="Raleway SemiBold"/>
                <a:ea typeface="Raleway SemiBold"/>
                <a:cs typeface="Raleway SemiBold"/>
                <a:sym typeface="Raleway SemiBold"/>
              </a:rPr>
              <a:t>PROJECT ID: PRDA-05 CUSTOMER DATA ANALYSIS</a:t>
            </a:r>
            <a:endParaRPr sz="1800">
              <a:solidFill>
                <a:schemeClr val="lt1"/>
              </a:solidFill>
              <a:latin typeface="Raleway SemiBold"/>
              <a:ea typeface="Raleway SemiBold"/>
              <a:cs typeface="Raleway SemiBold"/>
              <a:sym typeface="Raleway SemiBold"/>
            </a:endParaRPr>
          </a:p>
        </p:txBody>
      </p:sp>
      <p:sp>
        <p:nvSpPr>
          <p:cNvPr id="74" name="Google Shape;74;p13"/>
          <p:cNvSpPr txBox="1"/>
          <p:nvPr/>
        </p:nvSpPr>
        <p:spPr>
          <a:xfrm>
            <a:off x="1485265" y="2902585"/>
            <a:ext cx="2798445" cy="8159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lt1"/>
              </a:solidFill>
              <a:latin typeface="Raleway SemiBold"/>
              <a:ea typeface="Raleway SemiBold"/>
              <a:cs typeface="Raleway SemiBold"/>
              <a:sym typeface="Raleway SemiBold"/>
            </a:endParaRPr>
          </a:p>
          <a:p>
            <a:pPr marL="0" lvl="0" indent="0" algn="l" rtl="0">
              <a:spcBef>
                <a:spcPts val="0"/>
              </a:spcBef>
              <a:spcAft>
                <a:spcPts val="0"/>
              </a:spcAft>
              <a:buNone/>
            </a:pPr>
            <a:r>
              <a:rPr lang="en-GB" sz="1800" u="sng">
                <a:solidFill>
                  <a:schemeClr val="lt1"/>
                </a:solidFill>
                <a:latin typeface="Raleway SemiBold"/>
                <a:ea typeface="Raleway SemiBold"/>
                <a:cs typeface="Raleway SemiBold"/>
                <a:sym typeface="Raleway SemiBold"/>
              </a:rPr>
              <a:t>ADITYA HINGRAJIYA</a:t>
            </a:r>
            <a:endParaRPr lang="en-GB" sz="1800" u="sng">
              <a:solidFill>
                <a:schemeClr val="lt1"/>
              </a:solidFill>
              <a:latin typeface="Raleway SemiBold"/>
              <a:ea typeface="Raleway SemiBold"/>
              <a:cs typeface="Raleway SemiBold"/>
              <a:sym typeface="Raleway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idx="4294967295"/>
          </p:nvPr>
        </p:nvSpPr>
        <p:spPr>
          <a:xfrm>
            <a:off x="535775" y="712150"/>
            <a:ext cx="5197200" cy="768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GB" sz="3600">
                <a:solidFill>
                  <a:schemeClr val="dk1"/>
                </a:solidFill>
              </a:rPr>
              <a:t>INTRODUCTION</a:t>
            </a:r>
            <a:endParaRPr sz="2400"/>
          </a:p>
        </p:txBody>
      </p:sp>
      <p:sp>
        <p:nvSpPr>
          <p:cNvPr id="80" name="Google Shape;80;p14"/>
          <p:cNvSpPr txBox="1">
            <a:spLocks noGrp="1"/>
          </p:cNvSpPr>
          <p:nvPr>
            <p:ph type="title" idx="4294967295"/>
          </p:nvPr>
        </p:nvSpPr>
        <p:spPr>
          <a:xfrm>
            <a:off x="535775" y="1363300"/>
            <a:ext cx="8356500" cy="31845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2"/>
              </a:buClr>
              <a:buSzPts val="1100"/>
              <a:buFont typeface="Arial" panose="020B0604020202020204"/>
              <a:buNone/>
            </a:pPr>
            <a:r>
              <a:rPr lang="en-GB" sz="1800" b="0">
                <a:latin typeface="Lato" panose="020F0502020204030203"/>
                <a:ea typeface="Lato" panose="020F0502020204030203"/>
                <a:cs typeface="Lato" panose="020F0502020204030203"/>
                <a:sym typeface="Lato" panose="020F0502020204030203"/>
              </a:rPr>
              <a:t>In today’s competitive business landscape, understanding customer behavior is crucial for boosting sales and enhancing customer experience. This project analyzes customer data from multiple shopping malls, covering demographics, product categories, purchase details, and payment methods. Using SQL, key insights were extracted on gender-wise purchasing, category preferences, and age-based buying trends. Power BI dashboards were developed to visualize patterns such as top products, preferred payment modes, and mall-wise revenue. These insights enable businesses to improve targeted marketing, optimize inventory, refine pricing strategies, and strengthen customer engagement.</a:t>
            </a:r>
            <a:endParaRPr sz="1800" b="0">
              <a:latin typeface="Lato" panose="020F0502020204030203"/>
              <a:ea typeface="Lato" panose="020F0502020204030203"/>
              <a:cs typeface="Lato" panose="020F0502020204030203"/>
              <a:sym typeface="Lato" panose="020F0502020204030203"/>
            </a:endParaRPr>
          </a:p>
          <a:p>
            <a:pPr marL="0" lvl="0" indent="0" algn="l" rtl="0">
              <a:lnSpc>
                <a:spcPct val="115000"/>
              </a:lnSpc>
              <a:spcBef>
                <a:spcPts val="1200"/>
              </a:spcBef>
              <a:spcAft>
                <a:spcPts val="1600"/>
              </a:spcAft>
              <a:buNone/>
            </a:pPr>
            <a:endParaRPr sz="1800" b="0">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6C37"/>
        </a:solidFill>
        <a:effectLst/>
      </p:bgPr>
    </p:bg>
    <p:spTree>
      <p:nvGrpSpPr>
        <p:cNvPr id="1" name="Shape 84"/>
        <p:cNvGrpSpPr/>
        <p:nvPr/>
      </p:nvGrpSpPr>
      <p:grpSpPr>
        <a:xfrm>
          <a:off x="0" y="0"/>
          <a:ext cx="0" cy="0"/>
          <a:chOff x="0" y="0"/>
          <a:chExt cx="0" cy="0"/>
        </a:xfrm>
      </p:grpSpPr>
      <p:sp>
        <p:nvSpPr>
          <p:cNvPr id="85" name="Google Shape;85;p15"/>
          <p:cNvSpPr txBox="1"/>
          <p:nvPr/>
        </p:nvSpPr>
        <p:spPr>
          <a:xfrm>
            <a:off x="6807275" y="288050"/>
            <a:ext cx="1975500" cy="440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panose="020B0604020202020204"/>
              <a:buNone/>
            </a:pPr>
            <a:endParaRPr>
              <a:solidFill>
                <a:schemeClr val="lt1"/>
              </a:solidFill>
              <a:latin typeface="Lexend Medium"/>
              <a:ea typeface="Lexend Medium"/>
              <a:cs typeface="Lexend Medium"/>
              <a:sym typeface="Lexend Medium"/>
            </a:endParaRPr>
          </a:p>
          <a:p>
            <a:pPr marL="457200" lvl="0" indent="-311150" algn="l" rtl="0">
              <a:spcBef>
                <a:spcPts val="0"/>
              </a:spcBef>
              <a:spcAft>
                <a:spcPts val="0"/>
              </a:spcAft>
              <a:buClr>
                <a:schemeClr val="lt1"/>
              </a:buClr>
              <a:buSzPts val="1300"/>
              <a:buFont typeface="Lexend Medium"/>
              <a:buChar char="●"/>
            </a:pPr>
            <a:r>
              <a:rPr lang="en-GB" sz="1300">
                <a:solidFill>
                  <a:schemeClr val="lt1"/>
                </a:solidFill>
                <a:latin typeface="Lexend Medium"/>
                <a:ea typeface="Lexend Medium"/>
                <a:cs typeface="Lexend Medium"/>
                <a:sym typeface="Lexend Medium"/>
              </a:rPr>
              <a:t>This gap indicates potential to boost male engagement. </a:t>
            </a:r>
            <a:endParaRPr sz="1300">
              <a:solidFill>
                <a:schemeClr val="lt1"/>
              </a:solidFill>
              <a:latin typeface="Lexend Medium"/>
              <a:ea typeface="Lexend Medium"/>
              <a:cs typeface="Lexend Medium"/>
              <a:sym typeface="Lexend Medium"/>
            </a:endParaRPr>
          </a:p>
          <a:p>
            <a:pPr marL="0" lvl="0" indent="0" algn="l" rtl="0">
              <a:spcBef>
                <a:spcPts val="0"/>
              </a:spcBef>
              <a:spcAft>
                <a:spcPts val="0"/>
              </a:spcAft>
              <a:buNone/>
            </a:pPr>
            <a:endParaRPr sz="1300">
              <a:solidFill>
                <a:schemeClr val="lt1"/>
              </a:solidFill>
              <a:latin typeface="Lexend Medium"/>
              <a:ea typeface="Lexend Medium"/>
              <a:cs typeface="Lexend Medium"/>
              <a:sym typeface="Lexend Medium"/>
            </a:endParaRPr>
          </a:p>
          <a:p>
            <a:pPr marL="457200" lvl="0" indent="-311150" algn="l" rtl="0">
              <a:spcBef>
                <a:spcPts val="0"/>
              </a:spcBef>
              <a:spcAft>
                <a:spcPts val="0"/>
              </a:spcAft>
              <a:buClr>
                <a:schemeClr val="lt1"/>
              </a:buClr>
              <a:buSzPts val="1300"/>
              <a:buFont typeface="Lexend Medium"/>
              <a:buChar char="●"/>
            </a:pPr>
            <a:r>
              <a:rPr lang="en-GB" sz="1300">
                <a:solidFill>
                  <a:schemeClr val="lt1"/>
                </a:solidFill>
                <a:latin typeface="Lexend Medium"/>
                <a:ea typeface="Lexend Medium"/>
                <a:cs typeface="Lexend Medium"/>
                <a:sym typeface="Lexend Medium"/>
              </a:rPr>
              <a:t>Females lead revenue by nearly 19%, likely driven by female-focused categories.</a:t>
            </a:r>
            <a:endParaRPr sz="1300">
              <a:solidFill>
                <a:schemeClr val="lt1"/>
              </a:solidFill>
              <a:latin typeface="Lexend Medium"/>
              <a:ea typeface="Lexend Medium"/>
              <a:cs typeface="Lexend Medium"/>
              <a:sym typeface="Lexend Medium"/>
            </a:endParaRPr>
          </a:p>
          <a:p>
            <a:pPr marL="457200" lvl="0" indent="0" algn="l" rtl="0">
              <a:spcBef>
                <a:spcPts val="0"/>
              </a:spcBef>
              <a:spcAft>
                <a:spcPts val="0"/>
              </a:spcAft>
              <a:buNone/>
            </a:pPr>
            <a:endParaRPr sz="1300">
              <a:solidFill>
                <a:schemeClr val="lt1"/>
              </a:solidFill>
              <a:latin typeface="Lexend Medium"/>
              <a:ea typeface="Lexend Medium"/>
              <a:cs typeface="Lexend Medium"/>
              <a:sym typeface="Lexend Medium"/>
            </a:endParaRPr>
          </a:p>
          <a:p>
            <a:pPr marL="457200" lvl="0" indent="-311150" algn="l" rtl="0">
              <a:spcBef>
                <a:spcPts val="0"/>
              </a:spcBef>
              <a:spcAft>
                <a:spcPts val="0"/>
              </a:spcAft>
              <a:buClr>
                <a:schemeClr val="lt1"/>
              </a:buClr>
              <a:buSzPts val="1300"/>
              <a:buFont typeface="Lexend Medium"/>
              <a:buChar char="●"/>
            </a:pPr>
            <a:r>
              <a:rPr lang="en-GB" sz="1300">
                <a:solidFill>
                  <a:schemeClr val="lt1"/>
                </a:solidFill>
                <a:latin typeface="Lexend Medium"/>
                <a:ea typeface="Lexend Medium"/>
                <a:cs typeface="Lexend Medium"/>
                <a:sym typeface="Lexend Medium"/>
              </a:rPr>
              <a:t>Targeted marketing can maintain devoted female clients while balancing contributions.</a:t>
            </a:r>
            <a:endParaRPr sz="1300">
              <a:solidFill>
                <a:schemeClr val="lt1"/>
              </a:solidFill>
              <a:latin typeface="Lexend Medium"/>
              <a:ea typeface="Lexend Medium"/>
              <a:cs typeface="Lexend Medium"/>
              <a:sym typeface="Lexend Medium"/>
            </a:endParaRPr>
          </a:p>
        </p:txBody>
      </p:sp>
      <p:pic>
        <p:nvPicPr>
          <p:cNvPr id="86" name="Google Shape;86;p15"/>
          <p:cNvPicPr preferRelativeResize="0"/>
          <p:nvPr/>
        </p:nvPicPr>
        <p:blipFill>
          <a:blip r:embed="rId1"/>
          <a:stretch>
            <a:fillRect/>
          </a:stretch>
        </p:blipFill>
        <p:spPr>
          <a:xfrm>
            <a:off x="152400" y="709825"/>
            <a:ext cx="6502476" cy="3559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2" name="Google Shape;92;p16"/>
          <p:cNvPicPr preferRelativeResize="0"/>
          <p:nvPr/>
        </p:nvPicPr>
        <p:blipFill>
          <a:blip r:embed="rId1"/>
          <a:stretch>
            <a:fillRect/>
          </a:stretch>
        </p:blipFill>
        <p:spPr>
          <a:xfrm>
            <a:off x="333325" y="588050"/>
            <a:ext cx="5774451" cy="4138800"/>
          </a:xfrm>
          <a:prstGeom prst="rect">
            <a:avLst/>
          </a:prstGeom>
          <a:noFill/>
          <a:ln>
            <a:noFill/>
          </a:ln>
        </p:spPr>
      </p:pic>
      <p:sp>
        <p:nvSpPr>
          <p:cNvPr id="93" name="Google Shape;93;p16"/>
          <p:cNvSpPr txBox="1"/>
          <p:nvPr/>
        </p:nvSpPr>
        <p:spPr>
          <a:xfrm>
            <a:off x="6286075" y="588050"/>
            <a:ext cx="2619600" cy="4138800"/>
          </a:xfrm>
          <a:prstGeom prst="rect">
            <a:avLst/>
          </a:prstGeom>
          <a:solidFill>
            <a:schemeClr val="lt1"/>
          </a:solidFill>
          <a:ln>
            <a:noFill/>
          </a:ln>
        </p:spPr>
        <p:txBody>
          <a:bodyPr spcFirstLastPara="1" wrap="square" lIns="91425" tIns="91425" rIns="91425" bIns="91425" anchor="t" anchorCtr="0">
            <a:noAutofit/>
          </a:bodyPr>
          <a:lstStyle/>
          <a:p>
            <a:pPr marL="457200" lvl="0" indent="-311150" algn="l" rtl="0">
              <a:spcBef>
                <a:spcPts val="0"/>
              </a:spcBef>
              <a:spcAft>
                <a:spcPts val="0"/>
              </a:spcAft>
              <a:buClr>
                <a:srgbClr val="666666"/>
              </a:buClr>
              <a:buSzPts val="1300"/>
              <a:buFont typeface="Lexend Medium"/>
              <a:buChar char="●"/>
            </a:pPr>
            <a:r>
              <a:rPr lang="en-GB" sz="1300">
                <a:solidFill>
                  <a:srgbClr val="666666"/>
                </a:solidFill>
                <a:latin typeface="Lexend Medium"/>
                <a:ea typeface="Lexend Medium"/>
                <a:cs typeface="Lexend Medium"/>
                <a:sym typeface="Lexend Medium"/>
              </a:rPr>
              <a:t>The largest revenue contributors (72M) are customers over the age of 55, demonstrating a strong purchasing power in this market.  </a:t>
            </a:r>
            <a:endParaRPr sz="1300">
              <a:solidFill>
                <a:srgbClr val="666666"/>
              </a:solidFill>
              <a:latin typeface="Lexend Medium"/>
              <a:ea typeface="Lexend Medium"/>
              <a:cs typeface="Lexend Medium"/>
              <a:sym typeface="Lexend Medium"/>
            </a:endParaRPr>
          </a:p>
          <a:p>
            <a:pPr marL="457200" lvl="0" indent="-311150" algn="l" rtl="0">
              <a:spcBef>
                <a:spcPts val="0"/>
              </a:spcBef>
              <a:spcAft>
                <a:spcPts val="0"/>
              </a:spcAft>
              <a:buClr>
                <a:srgbClr val="666666"/>
              </a:buClr>
              <a:buSzPts val="1300"/>
              <a:buFont typeface="Lexend Medium"/>
              <a:buChar char="●"/>
            </a:pPr>
            <a:r>
              <a:rPr lang="en-GB" sz="1300">
                <a:solidFill>
                  <a:srgbClr val="666666"/>
                </a:solidFill>
                <a:latin typeface="Lexend Medium"/>
                <a:ea typeface="Lexend Medium"/>
                <a:cs typeface="Lexend Medium"/>
                <a:sym typeface="Lexend Medium"/>
              </a:rPr>
              <a:t>Middle-aged groups (25–54) consistently contribute between 48 and 50 million, demonstrating consistent purchasing patterns.</a:t>
            </a:r>
            <a:endParaRPr sz="1300">
              <a:solidFill>
                <a:srgbClr val="666666"/>
              </a:solidFill>
              <a:latin typeface="Lexend Medium"/>
              <a:ea typeface="Lexend Medium"/>
              <a:cs typeface="Lexend Medium"/>
              <a:sym typeface="Lexend Medium"/>
            </a:endParaRPr>
          </a:p>
          <a:p>
            <a:pPr marL="457200" lvl="0" indent="-311150" algn="l" rtl="0">
              <a:spcBef>
                <a:spcPts val="0"/>
              </a:spcBef>
              <a:spcAft>
                <a:spcPts val="0"/>
              </a:spcAft>
              <a:buClr>
                <a:srgbClr val="666666"/>
              </a:buClr>
              <a:buSzPts val="1300"/>
              <a:buFont typeface="Lexend Medium"/>
              <a:buChar char="●"/>
            </a:pPr>
            <a:r>
              <a:rPr lang="en-GB" sz="1300">
                <a:solidFill>
                  <a:srgbClr val="666666"/>
                </a:solidFill>
                <a:latin typeface="Lexend Medium"/>
                <a:ea typeface="Lexend Medium"/>
                <a:cs typeface="Lexend Medium"/>
                <a:sym typeface="Lexend Medium"/>
              </a:rPr>
              <a:t>The fact that younger consumers (18–24) make the least contribution points to a chance to create deals that appeal to these consumers.</a:t>
            </a:r>
            <a:endParaRPr sz="1300">
              <a:solidFill>
                <a:srgbClr val="666666"/>
              </a:solidFill>
              <a:latin typeface="Lexend Medium"/>
              <a:ea typeface="Lexend Medium"/>
              <a:cs typeface="Lexend Medium"/>
              <a:sym typeface="Lexend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9" name="Google Shape;99;p17"/>
          <p:cNvSpPr txBox="1"/>
          <p:nvPr/>
        </p:nvSpPr>
        <p:spPr>
          <a:xfrm>
            <a:off x="196175" y="838350"/>
            <a:ext cx="2784300" cy="3329700"/>
          </a:xfrm>
          <a:prstGeom prst="rect">
            <a:avLst/>
          </a:prstGeom>
          <a:solidFill>
            <a:schemeClr val="lt1"/>
          </a:solidFill>
          <a:ln>
            <a:noFill/>
          </a:ln>
        </p:spPr>
        <p:txBody>
          <a:bodyPr spcFirstLastPara="1" wrap="square" lIns="91425" tIns="91425" rIns="91425" bIns="91425" anchor="t" anchorCtr="0">
            <a:noAutofit/>
          </a:bodyPr>
          <a:lstStyle/>
          <a:p>
            <a:pPr marL="457200" lvl="0" indent="-311150" algn="l" rtl="0">
              <a:spcBef>
                <a:spcPts val="0"/>
              </a:spcBef>
              <a:spcAft>
                <a:spcPts val="0"/>
              </a:spcAft>
              <a:buClr>
                <a:srgbClr val="666666"/>
              </a:buClr>
              <a:buSzPts val="1300"/>
              <a:buFont typeface="Lexend Medium"/>
              <a:buChar char="●"/>
            </a:pPr>
            <a:r>
              <a:rPr lang="en-GB" sz="1300">
                <a:solidFill>
                  <a:srgbClr val="666666"/>
                </a:solidFill>
                <a:latin typeface="Lexend Medium"/>
                <a:ea typeface="Lexend Medium"/>
                <a:cs typeface="Lexend Medium"/>
                <a:sym typeface="Lexend Medium"/>
              </a:rPr>
              <a:t>Cash continues to be the most popular payment method, accounting for almost 45% of all transactions.</a:t>
            </a:r>
            <a:endParaRPr sz="1300">
              <a:solidFill>
                <a:srgbClr val="666666"/>
              </a:solidFill>
              <a:latin typeface="Lexend Medium"/>
              <a:ea typeface="Lexend Medium"/>
              <a:cs typeface="Lexend Medium"/>
              <a:sym typeface="Lexend Medium"/>
            </a:endParaRPr>
          </a:p>
          <a:p>
            <a:pPr marL="457200" lvl="0" indent="-311150" algn="l" rtl="0">
              <a:spcBef>
                <a:spcPts val="0"/>
              </a:spcBef>
              <a:spcAft>
                <a:spcPts val="0"/>
              </a:spcAft>
              <a:buClr>
                <a:srgbClr val="666666"/>
              </a:buClr>
              <a:buSzPts val="1300"/>
              <a:buFont typeface="Lexend Medium"/>
              <a:buChar char="●"/>
            </a:pPr>
            <a:r>
              <a:rPr lang="en-GB" sz="1300">
                <a:solidFill>
                  <a:srgbClr val="666666"/>
                </a:solidFill>
                <a:latin typeface="Lexend Medium"/>
                <a:ea typeface="Lexend Medium"/>
                <a:cs typeface="Lexend Medium"/>
                <a:sym typeface="Lexend Medium"/>
              </a:rPr>
              <a:t>As consumers become more accustomed to using digital payments, credit cards come in second at 35%.</a:t>
            </a:r>
            <a:endParaRPr sz="1300">
              <a:solidFill>
                <a:srgbClr val="666666"/>
              </a:solidFill>
              <a:latin typeface="Lexend Medium"/>
              <a:ea typeface="Lexend Medium"/>
              <a:cs typeface="Lexend Medium"/>
              <a:sym typeface="Lexend Medium"/>
            </a:endParaRPr>
          </a:p>
          <a:p>
            <a:pPr marL="457200" lvl="0" indent="-311150" algn="l" rtl="0">
              <a:spcBef>
                <a:spcPts val="0"/>
              </a:spcBef>
              <a:spcAft>
                <a:spcPts val="0"/>
              </a:spcAft>
              <a:buClr>
                <a:srgbClr val="666666"/>
              </a:buClr>
              <a:buSzPts val="1300"/>
              <a:buFont typeface="Lexend Medium"/>
              <a:buChar char="●"/>
            </a:pPr>
            <a:r>
              <a:rPr lang="en-GB" sz="1300">
                <a:solidFill>
                  <a:srgbClr val="666666"/>
                </a:solidFill>
                <a:latin typeface="Lexend Medium"/>
                <a:ea typeface="Lexend Medium"/>
                <a:cs typeface="Lexend Medium"/>
                <a:sym typeface="Lexend Medium"/>
              </a:rPr>
              <a:t>Only 20% of transactions are made with debit cards, indicating the possibility of promoting digital incentives or card-based offers.</a:t>
            </a:r>
            <a:endParaRPr sz="1300">
              <a:solidFill>
                <a:srgbClr val="666666"/>
              </a:solidFill>
              <a:latin typeface="Lexend Medium"/>
              <a:ea typeface="Lexend Medium"/>
              <a:cs typeface="Lexend Medium"/>
              <a:sym typeface="Lexend Medium"/>
            </a:endParaRPr>
          </a:p>
        </p:txBody>
      </p:sp>
      <p:pic>
        <p:nvPicPr>
          <p:cNvPr id="100" name="Google Shape;100;p17"/>
          <p:cNvPicPr preferRelativeResize="0"/>
          <p:nvPr/>
        </p:nvPicPr>
        <p:blipFill>
          <a:blip r:embed="rId1"/>
          <a:stretch>
            <a:fillRect/>
          </a:stretch>
        </p:blipFill>
        <p:spPr>
          <a:xfrm>
            <a:off x="3064300" y="855438"/>
            <a:ext cx="5858726" cy="329553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p18"/>
          <p:cNvPicPr preferRelativeResize="0"/>
          <p:nvPr/>
        </p:nvPicPr>
        <p:blipFill>
          <a:blip r:embed="rId1"/>
          <a:stretch>
            <a:fillRect/>
          </a:stretch>
        </p:blipFill>
        <p:spPr>
          <a:xfrm>
            <a:off x="1343025" y="1036900"/>
            <a:ext cx="6457950" cy="3590925"/>
          </a:xfrm>
          <a:prstGeom prst="rect">
            <a:avLst/>
          </a:prstGeom>
          <a:noFill/>
          <a:ln>
            <a:noFill/>
          </a:ln>
        </p:spPr>
      </p:pic>
      <p:sp>
        <p:nvSpPr>
          <p:cNvPr id="106" name="Google Shape;106;p18"/>
          <p:cNvSpPr txBox="1"/>
          <p:nvPr/>
        </p:nvSpPr>
        <p:spPr>
          <a:xfrm>
            <a:off x="189800" y="173150"/>
            <a:ext cx="6103500" cy="39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000">
                <a:solidFill>
                  <a:schemeClr val="dk2"/>
                </a:solidFill>
                <a:latin typeface="Lexend SemiBold"/>
                <a:ea typeface="Lexend SemiBold"/>
                <a:cs typeface="Lexend SemiBold"/>
                <a:sym typeface="Lexend SemiBold"/>
              </a:rPr>
              <a:t>CUMULATIVE CATEGORY </a:t>
            </a:r>
            <a:endParaRPr sz="2000">
              <a:solidFill>
                <a:schemeClr val="dk2"/>
              </a:solidFill>
              <a:latin typeface="Lexend SemiBold"/>
              <a:ea typeface="Lexend SemiBold"/>
              <a:cs typeface="Lexend SemiBold"/>
              <a:sym typeface="Lexend SemiBold"/>
            </a:endParaRPr>
          </a:p>
          <a:p>
            <a:pPr marL="0" lvl="0" indent="0" algn="l" rtl="0">
              <a:spcBef>
                <a:spcPts val="0"/>
              </a:spcBef>
              <a:spcAft>
                <a:spcPts val="0"/>
              </a:spcAft>
              <a:buNone/>
            </a:pPr>
            <a:r>
              <a:rPr lang="en-GB" sz="2000">
                <a:solidFill>
                  <a:schemeClr val="dk2"/>
                </a:solidFill>
                <a:latin typeface="Lexend SemiBold"/>
                <a:ea typeface="Lexend SemiBold"/>
                <a:cs typeface="Lexend SemiBold"/>
                <a:sym typeface="Lexend SemiBold"/>
              </a:rPr>
              <a:t>CONTRIBUTION</a:t>
            </a:r>
            <a:endParaRPr sz="2000">
              <a:solidFill>
                <a:schemeClr val="dk2"/>
              </a:solidFill>
              <a:latin typeface="Lexend SemiBold"/>
              <a:ea typeface="Lexend SemiBold"/>
              <a:cs typeface="Lexend SemiBold"/>
              <a:sym typeface="Lexend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10"/>
        <p:cNvGrpSpPr/>
        <p:nvPr/>
      </p:nvGrpSpPr>
      <p:grpSpPr>
        <a:xfrm>
          <a:off x="0" y="0"/>
          <a:ext cx="0" cy="0"/>
          <a:chOff x="0" y="0"/>
          <a:chExt cx="0" cy="0"/>
        </a:xfrm>
      </p:grpSpPr>
      <p:sp>
        <p:nvSpPr>
          <p:cNvPr id="111" name="Google Shape;111;p19"/>
          <p:cNvSpPr txBox="1">
            <a:spLocks noGrp="1"/>
          </p:cNvSpPr>
          <p:nvPr>
            <p:ph type="body" idx="4294967295"/>
          </p:nvPr>
        </p:nvSpPr>
        <p:spPr>
          <a:xfrm>
            <a:off x="1852650" y="904950"/>
            <a:ext cx="5438700" cy="3333600"/>
          </a:xfrm>
          <a:prstGeom prst="rect">
            <a:avLst/>
          </a:prstGeom>
          <a:solidFill>
            <a:schemeClr val="lt1"/>
          </a:solidFill>
        </p:spPr>
        <p:txBody>
          <a:bodyPr spcFirstLastPara="1" wrap="square" lIns="91425" tIns="91425" rIns="91425" bIns="91425" anchor="t" anchorCtr="0">
            <a:noAutofit/>
          </a:bodyPr>
          <a:lstStyle/>
          <a:p>
            <a:pPr marL="457200" lvl="0" indent="-317500" algn="l" rtl="0">
              <a:spcBef>
                <a:spcPts val="0"/>
              </a:spcBef>
              <a:spcAft>
                <a:spcPts val="0"/>
              </a:spcAft>
              <a:buSzPts val="1400"/>
              <a:buFont typeface="Lexend Medium"/>
              <a:buChar char="●"/>
            </a:pPr>
            <a:r>
              <a:rPr lang="en-GB" sz="1400">
                <a:latin typeface="Lexend Medium"/>
                <a:ea typeface="Lexend Medium"/>
                <a:cs typeface="Lexend Medium"/>
                <a:sym typeface="Lexend Medium"/>
              </a:rPr>
              <a:t>Cumulative category contribution helps identify which product segments produce the highest share of revenue.</a:t>
            </a:r>
            <a:endParaRPr sz="1400">
              <a:latin typeface="Lexend Medium"/>
              <a:ea typeface="Lexend Medium"/>
              <a:cs typeface="Lexend Medium"/>
              <a:sym typeface="Lexend Medium"/>
            </a:endParaRPr>
          </a:p>
          <a:p>
            <a:pPr marL="457200" lvl="0" indent="-317500" algn="l" rtl="0">
              <a:spcBef>
                <a:spcPts val="0"/>
              </a:spcBef>
              <a:spcAft>
                <a:spcPts val="0"/>
              </a:spcAft>
              <a:buSzPts val="1400"/>
              <a:buFont typeface="Lexend Medium"/>
              <a:buChar char="●"/>
            </a:pPr>
            <a:r>
              <a:rPr lang="en-GB" sz="1400">
                <a:latin typeface="Lexend Medium"/>
                <a:ea typeface="Lexend Medium"/>
                <a:cs typeface="Lexend Medium"/>
                <a:sym typeface="Lexend Medium"/>
              </a:rPr>
              <a:t>Clothing, shoes, and technology together account for the majority of total revenues, in line with the 80/20 contribution pattern.</a:t>
            </a:r>
            <a:endParaRPr sz="1400">
              <a:latin typeface="Lexend Medium"/>
              <a:ea typeface="Lexend Medium"/>
              <a:cs typeface="Lexend Medium"/>
              <a:sym typeface="Lexend Medium"/>
            </a:endParaRPr>
          </a:p>
          <a:p>
            <a:pPr marL="457200" lvl="0" indent="-317500" algn="l" rtl="0">
              <a:spcBef>
                <a:spcPts val="0"/>
              </a:spcBef>
              <a:spcAft>
                <a:spcPts val="0"/>
              </a:spcAft>
              <a:buSzPts val="1400"/>
              <a:buFont typeface="Lexend Medium"/>
              <a:buChar char="●"/>
            </a:pPr>
            <a:r>
              <a:rPr lang="en-GB" sz="1400">
                <a:latin typeface="Lexend Medium"/>
                <a:ea typeface="Lexend Medium"/>
                <a:cs typeface="Lexend Medium"/>
                <a:sym typeface="Lexend Medium"/>
              </a:rPr>
              <a:t>Toys and cosmetics have moderate but fairly consistent revenue potential; these, too, are secondary contributors.</a:t>
            </a:r>
            <a:endParaRPr sz="1400">
              <a:latin typeface="Lexend Medium"/>
              <a:ea typeface="Lexend Medium"/>
              <a:cs typeface="Lexend Medium"/>
              <a:sym typeface="Lexend Medium"/>
            </a:endParaRPr>
          </a:p>
          <a:p>
            <a:pPr marL="457200" lvl="0" indent="-317500" algn="l" rtl="0">
              <a:spcBef>
                <a:spcPts val="0"/>
              </a:spcBef>
              <a:spcAft>
                <a:spcPts val="0"/>
              </a:spcAft>
              <a:buSzPts val="1400"/>
              <a:buFont typeface="Lexend Medium"/>
              <a:buChar char="●"/>
            </a:pPr>
            <a:r>
              <a:rPr lang="en-GB" sz="1400">
                <a:latin typeface="Lexend Medium"/>
                <a:ea typeface="Lexend Medium"/>
                <a:cs typeface="Lexend Medium"/>
                <a:sym typeface="Lexend Medium"/>
              </a:rPr>
              <a:t>Emphasize the high-generating categories and simultaneously improve the lower ones with strategic moves for increasing efficiency and profitability.</a:t>
            </a:r>
            <a:endParaRPr sz="1400">
              <a:latin typeface="Lexend Medium"/>
              <a:ea typeface="Lexend Medium"/>
              <a:cs typeface="Lexend Medium"/>
              <a:sym typeface="Lexend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5"/>
        <p:cNvGrpSpPr/>
        <p:nvPr/>
      </p:nvGrpSpPr>
      <p:grpSpPr>
        <a:xfrm>
          <a:off x="0" y="0"/>
          <a:ext cx="0" cy="0"/>
          <a:chOff x="0" y="0"/>
          <a:chExt cx="0" cy="0"/>
        </a:xfrm>
      </p:grpSpPr>
      <p:sp>
        <p:nvSpPr>
          <p:cNvPr id="116" name="Google Shape;116;p20"/>
          <p:cNvSpPr txBox="1"/>
          <p:nvPr/>
        </p:nvSpPr>
        <p:spPr>
          <a:xfrm>
            <a:off x="2158050" y="200575"/>
            <a:ext cx="4827900" cy="60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2"/>
                </a:solidFill>
                <a:latin typeface="Lexend Medium"/>
                <a:ea typeface="Lexend Medium"/>
                <a:cs typeface="Lexend Medium"/>
                <a:sym typeface="Lexend Medium"/>
              </a:rPr>
              <a:t>Revenue Performance by Shopping mall</a:t>
            </a:r>
            <a:endParaRPr sz="1800">
              <a:solidFill>
                <a:schemeClr val="dk2"/>
              </a:solidFill>
              <a:latin typeface="Lexend Medium"/>
              <a:ea typeface="Lexend Medium"/>
              <a:cs typeface="Lexend Medium"/>
              <a:sym typeface="Lexend Medium"/>
            </a:endParaRPr>
          </a:p>
        </p:txBody>
      </p:sp>
      <p:pic>
        <p:nvPicPr>
          <p:cNvPr id="117" name="Google Shape;117;p20"/>
          <p:cNvPicPr preferRelativeResize="0"/>
          <p:nvPr/>
        </p:nvPicPr>
        <p:blipFill>
          <a:blip r:embed="rId1"/>
          <a:stretch>
            <a:fillRect/>
          </a:stretch>
        </p:blipFill>
        <p:spPr>
          <a:xfrm>
            <a:off x="378400" y="846425"/>
            <a:ext cx="5891301" cy="4032901"/>
          </a:xfrm>
          <a:prstGeom prst="rect">
            <a:avLst/>
          </a:prstGeom>
          <a:noFill/>
          <a:ln>
            <a:noFill/>
          </a:ln>
        </p:spPr>
      </p:pic>
      <p:sp>
        <p:nvSpPr>
          <p:cNvPr id="118" name="Google Shape;118;p20"/>
          <p:cNvSpPr txBox="1"/>
          <p:nvPr/>
        </p:nvSpPr>
        <p:spPr>
          <a:xfrm>
            <a:off x="6327225" y="790150"/>
            <a:ext cx="2633400" cy="403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panose="020B0604020202020204"/>
              <a:buNone/>
            </a:pPr>
            <a:r>
              <a:rPr lang="en-GB" sz="1200">
                <a:solidFill>
                  <a:schemeClr val="dk2"/>
                </a:solidFill>
                <a:latin typeface="Lexend Medium"/>
                <a:ea typeface="Lexend Medium"/>
                <a:cs typeface="Lexend Medium"/>
                <a:sym typeface="Lexend Medium"/>
              </a:rPr>
              <a:t>With over ₹50M revenue, Mall of Istanbul and Kanyon are in first place, demonstrating the highest levels of brand presence and consumer engagement.</a:t>
            </a:r>
            <a:endParaRPr sz="1200">
              <a:solidFill>
                <a:schemeClr val="dk2"/>
              </a:solidFill>
              <a:latin typeface="Lexend Medium"/>
              <a:ea typeface="Lexend Medium"/>
              <a:cs typeface="Lexend Medium"/>
              <a:sym typeface="Lexend Medium"/>
            </a:endParaRPr>
          </a:p>
          <a:p>
            <a:pPr marL="0" lvl="0" indent="0" algn="l" rtl="0">
              <a:spcBef>
                <a:spcPts val="0"/>
              </a:spcBef>
              <a:spcAft>
                <a:spcPts val="0"/>
              </a:spcAft>
              <a:buNone/>
            </a:pPr>
            <a:endParaRPr sz="1200">
              <a:solidFill>
                <a:schemeClr val="dk2"/>
              </a:solidFill>
              <a:latin typeface="Lexend Medium"/>
              <a:ea typeface="Lexend Medium"/>
              <a:cs typeface="Lexend Medium"/>
              <a:sym typeface="Lexend Medium"/>
            </a:endParaRPr>
          </a:p>
          <a:p>
            <a:pPr marL="0" lvl="0" indent="0" algn="l" rtl="0">
              <a:spcBef>
                <a:spcPts val="0"/>
              </a:spcBef>
              <a:spcAft>
                <a:spcPts val="0"/>
              </a:spcAft>
              <a:buClr>
                <a:schemeClr val="dk2"/>
              </a:buClr>
              <a:buSzPts val="1100"/>
              <a:buFont typeface="Arial" panose="020B0604020202020204"/>
              <a:buNone/>
            </a:pPr>
            <a:r>
              <a:rPr lang="en-GB" sz="1200">
                <a:solidFill>
                  <a:schemeClr val="dk2"/>
                </a:solidFill>
                <a:latin typeface="Lexend Medium"/>
                <a:ea typeface="Lexend Medium"/>
                <a:cs typeface="Lexend Medium"/>
                <a:sym typeface="Lexend Medium"/>
              </a:rPr>
              <a:t>Metrocity comes in second with a moderate performance (~37M), and the mid-tier group is made up of Metropol AVM and Istinye Park (~25M).</a:t>
            </a:r>
            <a:endParaRPr sz="1200">
              <a:solidFill>
                <a:schemeClr val="dk2"/>
              </a:solidFill>
              <a:latin typeface="Lexend Medium"/>
              <a:ea typeface="Lexend Medium"/>
              <a:cs typeface="Lexend Medium"/>
              <a:sym typeface="Lexend Medium"/>
            </a:endParaRPr>
          </a:p>
          <a:p>
            <a:pPr marL="0" lvl="0" indent="0" algn="l" rtl="0">
              <a:spcBef>
                <a:spcPts val="0"/>
              </a:spcBef>
              <a:spcAft>
                <a:spcPts val="0"/>
              </a:spcAft>
              <a:buNone/>
            </a:pPr>
            <a:endParaRPr sz="1200">
              <a:solidFill>
                <a:schemeClr val="dk2"/>
              </a:solidFill>
              <a:latin typeface="Lexend Medium"/>
              <a:ea typeface="Lexend Medium"/>
              <a:cs typeface="Lexend Medium"/>
              <a:sym typeface="Lexend Medium"/>
            </a:endParaRPr>
          </a:p>
          <a:p>
            <a:pPr marL="0" lvl="0" indent="0" algn="l" rtl="0">
              <a:spcBef>
                <a:spcPts val="0"/>
              </a:spcBef>
              <a:spcAft>
                <a:spcPts val="0"/>
              </a:spcAft>
              <a:buClr>
                <a:schemeClr val="dk2"/>
              </a:buClr>
              <a:buSzPts val="1100"/>
              <a:buFont typeface="Arial" panose="020B0604020202020204"/>
              <a:buNone/>
            </a:pPr>
            <a:r>
              <a:rPr lang="en-GB" sz="1200">
                <a:solidFill>
                  <a:schemeClr val="dk2"/>
                </a:solidFill>
                <a:latin typeface="Lexend Medium"/>
                <a:ea typeface="Lexend Medium"/>
                <a:cs typeface="Lexend Medium"/>
                <a:sym typeface="Lexend Medium"/>
              </a:rPr>
              <a:t>Malls with lower revenue (less than ₹13M) suggest fewer customers or less spending.</a:t>
            </a:r>
            <a:endParaRPr sz="1200">
              <a:solidFill>
                <a:schemeClr val="dk2"/>
              </a:solidFill>
              <a:latin typeface="Lexend Medium"/>
              <a:ea typeface="Lexend Medium"/>
              <a:cs typeface="Lexend Medium"/>
              <a:sym typeface="Lexend Medium"/>
            </a:endParaRPr>
          </a:p>
          <a:p>
            <a:pPr marL="0" lvl="0" indent="0" algn="l" rtl="0">
              <a:spcBef>
                <a:spcPts val="0"/>
              </a:spcBef>
              <a:spcAft>
                <a:spcPts val="0"/>
              </a:spcAft>
              <a:buNone/>
            </a:pPr>
            <a:endParaRPr sz="1200">
              <a:solidFill>
                <a:schemeClr val="dk2"/>
              </a:solidFill>
              <a:latin typeface="Lexend Medium"/>
              <a:ea typeface="Lexend Medium"/>
              <a:cs typeface="Lexend Medium"/>
              <a:sym typeface="Lexend Medium"/>
            </a:endParaRPr>
          </a:p>
          <a:p>
            <a:pPr marL="0" lvl="0" indent="0" algn="l" rtl="0">
              <a:spcBef>
                <a:spcPts val="0"/>
              </a:spcBef>
              <a:spcAft>
                <a:spcPts val="0"/>
              </a:spcAft>
              <a:buNone/>
            </a:pPr>
            <a:r>
              <a:rPr lang="en-GB" sz="1200">
                <a:solidFill>
                  <a:schemeClr val="dk2"/>
                </a:solidFill>
                <a:latin typeface="Lexend Medium"/>
                <a:ea typeface="Lexend Medium"/>
                <a:cs typeface="Lexend Medium"/>
                <a:sym typeface="Lexend Medium"/>
              </a:rPr>
              <a:t>Revenue distribution shows that top malls dominate the market; concentrating marketing efforts and customer service in mid-tier malls can enhance the overall balance of sales.</a:t>
            </a:r>
            <a:endParaRPr sz="1200">
              <a:solidFill>
                <a:schemeClr val="dk2"/>
              </a:solidFill>
              <a:latin typeface="Lexend Medium"/>
              <a:ea typeface="Lexend Medium"/>
              <a:cs typeface="Lexend Medium"/>
              <a:sym typeface="Lexend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34343"/>
        </a:solidFill>
        <a:effectLst/>
      </p:bgPr>
    </p:bg>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349799" y="972750"/>
            <a:ext cx="8444400" cy="383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panose="020B0604020202020204"/>
              <a:buNone/>
            </a:pPr>
            <a:r>
              <a:rPr lang="en-GB" sz="1600" b="0">
                <a:latin typeface="Lexend"/>
                <a:ea typeface="Lexend"/>
                <a:cs typeface="Lexend"/>
                <a:sym typeface="Lexend"/>
              </a:rPr>
              <a:t>1. Compared to female customers, male customers generate more overall revenue, indicating stronger purchasing activity.</a:t>
            </a:r>
            <a:endParaRPr sz="1600" b="0">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sz="1600" b="0">
                <a:latin typeface="Lexend"/>
                <a:ea typeface="Lexend"/>
                <a:cs typeface="Lexend"/>
                <a:sym typeface="Lexend"/>
              </a:rPr>
              <a:t>2. The most lucrative market segment is senior customers (55+), who exhibit greater brand loyalty and spending power.</a:t>
            </a:r>
            <a:endParaRPr sz="1600" b="0">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sz="1600" b="0">
                <a:latin typeface="Lexend"/>
                <a:ea typeface="Lexend"/>
                <a:cs typeface="Lexend"/>
                <a:sym typeface="Lexend"/>
              </a:rPr>
              <a:t>3. Although the use of digital payments is steadily growing, cash payments are still the most popular option.</a:t>
            </a:r>
            <a:endParaRPr sz="1600" b="0">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sz="1600" b="0">
                <a:latin typeface="Lexend"/>
                <a:ea typeface="Lexend"/>
                <a:cs typeface="Lexend"/>
                <a:sym typeface="Lexend"/>
              </a:rPr>
              <a:t>4. The Pareto principle (80/20 rule) the majority of profits come from a small number of key products,  is confirmed by the fact that a few top categories dominate total revenue.</a:t>
            </a:r>
            <a:endParaRPr sz="1600" b="0">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sz="1600" b="0">
                <a:latin typeface="Lexend"/>
                <a:ea typeface="Lexend"/>
                <a:cs typeface="Lexend"/>
                <a:sym typeface="Lexend"/>
              </a:rPr>
              <a:t>5. Due to their high customer traffic and purchase volume, the Mall of Istanbul and Kanyon stand out as the top revenue generators.</a:t>
            </a:r>
            <a:endParaRPr sz="1600" b="0">
              <a:latin typeface="Lexend"/>
              <a:ea typeface="Lexend"/>
              <a:cs typeface="Lexend"/>
              <a:sym typeface="Lexend"/>
            </a:endParaRPr>
          </a:p>
          <a:p>
            <a:pPr marL="0" lvl="0" indent="0" algn="l" rtl="0">
              <a:spcBef>
                <a:spcPts val="0"/>
              </a:spcBef>
              <a:spcAft>
                <a:spcPts val="0"/>
              </a:spcAft>
              <a:buNone/>
            </a:pPr>
            <a:r>
              <a:rPr lang="en-GB" sz="1600" b="0">
                <a:latin typeface="Lexend"/>
                <a:ea typeface="Lexend"/>
                <a:cs typeface="Lexend"/>
                <a:sym typeface="Lexend"/>
              </a:rPr>
              <a:t>6. Overall, the business shows concentrated revenue sources, by targeting underperforming malls, younger age groups, and female customers, total revenue can grow significantly.</a:t>
            </a:r>
            <a:endParaRPr sz="1600" b="0">
              <a:latin typeface="Lexend"/>
              <a:ea typeface="Lexend"/>
              <a:cs typeface="Lexend"/>
              <a:sym typeface="Lexend"/>
            </a:endParaRPr>
          </a:p>
        </p:txBody>
      </p:sp>
      <p:sp>
        <p:nvSpPr>
          <p:cNvPr id="124" name="Google Shape;124;p21"/>
          <p:cNvSpPr txBox="1"/>
          <p:nvPr/>
        </p:nvSpPr>
        <p:spPr>
          <a:xfrm>
            <a:off x="349800" y="433725"/>
            <a:ext cx="4622400" cy="48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800" b="1">
                <a:solidFill>
                  <a:schemeClr val="lt1"/>
                </a:solidFill>
                <a:latin typeface="Lexend"/>
                <a:ea typeface="Lexend"/>
                <a:cs typeface="Lexend"/>
                <a:sym typeface="Lexend"/>
              </a:rPr>
              <a:t>CONCLUSION</a:t>
            </a:r>
            <a:endParaRPr sz="2800" b="1">
              <a:solidFill>
                <a:schemeClr val="lt1"/>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8"/>
        <p:cNvGrpSpPr/>
        <p:nvPr/>
      </p:nvGrpSpPr>
      <p:grpSpPr>
        <a:xfrm>
          <a:off x="0" y="0"/>
          <a:ext cx="0" cy="0"/>
          <a:chOff x="0" y="0"/>
          <a:chExt cx="0" cy="0"/>
        </a:xfrm>
      </p:grpSpPr>
      <p:sp>
        <p:nvSpPr>
          <p:cNvPr id="129" name="Google Shape;129;p22"/>
          <p:cNvSpPr txBox="1"/>
          <p:nvPr/>
        </p:nvSpPr>
        <p:spPr>
          <a:xfrm>
            <a:off x="497925" y="735500"/>
            <a:ext cx="8215800" cy="426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panose="020B0604020202020204"/>
              <a:buNone/>
            </a:pPr>
            <a:r>
              <a:rPr lang="en-GB">
                <a:solidFill>
                  <a:schemeClr val="dk2"/>
                </a:solidFill>
                <a:latin typeface="Lexend"/>
                <a:ea typeface="Lexend"/>
                <a:cs typeface="Lexend"/>
                <a:sym typeface="Lexend"/>
              </a:rPr>
              <a:t>1. Focus on High-Value Markets</a:t>
            </a:r>
            <a:endParaRPr>
              <a:solidFill>
                <a:schemeClr val="dk2"/>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a:solidFill>
                  <a:schemeClr val="dk2"/>
                </a:solidFill>
                <a:latin typeface="Lexend"/>
                <a:ea typeface="Lexend"/>
                <a:cs typeface="Lexend"/>
                <a:sym typeface="Lexend"/>
              </a:rPr>
              <a:t>Concentrate marketing efforts on female and 25–35 age group customers, as they generate more engagement and revenue.</a:t>
            </a:r>
            <a:endParaRPr>
              <a:solidFill>
                <a:schemeClr val="dk2"/>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endParaRPr>
              <a:solidFill>
                <a:schemeClr val="dk2"/>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a:solidFill>
                  <a:schemeClr val="dk2"/>
                </a:solidFill>
                <a:latin typeface="Lexend"/>
                <a:ea typeface="Lexend"/>
                <a:cs typeface="Lexend"/>
                <a:sym typeface="Lexend"/>
              </a:rPr>
              <a:t>2. Advance Electronic Payments</a:t>
            </a:r>
            <a:endParaRPr>
              <a:solidFill>
                <a:schemeClr val="dk2"/>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a:solidFill>
                  <a:schemeClr val="dk2"/>
                </a:solidFill>
                <a:latin typeface="Lexend"/>
                <a:ea typeface="Lexend"/>
                <a:cs typeface="Lexend"/>
                <a:sym typeface="Lexend"/>
              </a:rPr>
              <a:t>To lessen reliance on cash payments, promote card and wallet transactions with cashback or discount offers.</a:t>
            </a:r>
            <a:endParaRPr>
              <a:solidFill>
                <a:schemeClr val="dk2"/>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endParaRPr>
              <a:solidFill>
                <a:schemeClr val="dk2"/>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a:solidFill>
                  <a:schemeClr val="dk2"/>
                </a:solidFill>
                <a:latin typeface="Lexend"/>
                <a:ea typeface="Lexend"/>
                <a:cs typeface="Lexend"/>
                <a:sym typeface="Lexend"/>
              </a:rPr>
              <a:t>3. Product Category Optimization</a:t>
            </a:r>
            <a:endParaRPr>
              <a:solidFill>
                <a:schemeClr val="dk2"/>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a:solidFill>
                  <a:schemeClr val="dk2"/>
                </a:solidFill>
                <a:latin typeface="Lexend"/>
                <a:ea typeface="Lexend"/>
                <a:cs typeface="Lexend"/>
                <a:sym typeface="Lexend"/>
              </a:rPr>
              <a:t>To optimize profit, give priority to the marketing and stocking of the top 20% categories as determined by Pareto analysis.</a:t>
            </a:r>
            <a:endParaRPr>
              <a:solidFill>
                <a:schemeClr val="dk2"/>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endParaRPr>
              <a:solidFill>
                <a:schemeClr val="dk2"/>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a:solidFill>
                  <a:schemeClr val="dk2"/>
                </a:solidFill>
                <a:latin typeface="Lexend"/>
                <a:ea typeface="Lexend"/>
                <a:cs typeface="Lexend"/>
                <a:sym typeface="Lexend"/>
              </a:rPr>
              <a:t>4. Improve Mall Efficiency</a:t>
            </a:r>
            <a:endParaRPr>
              <a:solidFill>
                <a:schemeClr val="dk2"/>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a:solidFill>
                  <a:schemeClr val="dk2"/>
                </a:solidFill>
                <a:latin typeface="Lexend"/>
                <a:ea typeface="Lexend"/>
                <a:cs typeface="Lexend"/>
                <a:sym typeface="Lexend"/>
              </a:rPr>
              <a:t>To balance overall revenue, apply tactics from top-performing malls (e.g., promotions, events) to other locations.</a:t>
            </a:r>
            <a:endParaRPr>
              <a:solidFill>
                <a:schemeClr val="dk2"/>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endParaRPr>
              <a:solidFill>
                <a:schemeClr val="dk2"/>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a:solidFill>
                  <a:schemeClr val="dk2"/>
                </a:solidFill>
                <a:latin typeface="Lexend"/>
                <a:ea typeface="Lexend"/>
                <a:cs typeface="Lexend"/>
                <a:sym typeface="Lexend"/>
              </a:rPr>
              <a:t>5. Increase Client Loyalty</a:t>
            </a:r>
            <a:endParaRPr>
              <a:solidFill>
                <a:schemeClr val="dk2"/>
              </a:solidFill>
              <a:latin typeface="Lexend"/>
              <a:ea typeface="Lexend"/>
              <a:cs typeface="Lexend"/>
              <a:sym typeface="Lexend"/>
            </a:endParaRPr>
          </a:p>
          <a:p>
            <a:pPr marL="0" lvl="0" indent="0" algn="l" rtl="0">
              <a:spcBef>
                <a:spcPts val="0"/>
              </a:spcBef>
              <a:spcAft>
                <a:spcPts val="0"/>
              </a:spcAft>
              <a:buNone/>
            </a:pPr>
            <a:r>
              <a:rPr lang="en-GB">
                <a:solidFill>
                  <a:schemeClr val="dk2"/>
                </a:solidFill>
                <a:latin typeface="Lexend"/>
                <a:ea typeface="Lexend"/>
                <a:cs typeface="Lexend"/>
                <a:sym typeface="Lexend"/>
              </a:rPr>
              <a:t>To improve retention and long-term value, implement loyalty and referral programs for regular clients.</a:t>
            </a:r>
            <a:endParaRPr>
              <a:solidFill>
                <a:schemeClr val="dk2"/>
              </a:solidFill>
              <a:latin typeface="Lexend"/>
              <a:ea typeface="Lexend"/>
              <a:cs typeface="Lexend"/>
              <a:sym typeface="Lexend"/>
            </a:endParaRPr>
          </a:p>
        </p:txBody>
      </p:sp>
      <p:sp>
        <p:nvSpPr>
          <p:cNvPr id="130" name="Google Shape;130;p22"/>
          <p:cNvSpPr txBox="1"/>
          <p:nvPr/>
        </p:nvSpPr>
        <p:spPr>
          <a:xfrm>
            <a:off x="539075" y="200575"/>
            <a:ext cx="6542400" cy="53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chemeClr val="dk2"/>
                </a:solidFill>
                <a:latin typeface="Lexend"/>
                <a:ea typeface="Lexend"/>
                <a:cs typeface="Lexend"/>
                <a:sym typeface="Lexend"/>
              </a:rPr>
              <a:t>SUGGESTIONS</a:t>
            </a:r>
            <a:endParaRPr sz="2400" b="1">
              <a:solidFill>
                <a:schemeClr val="dk2"/>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4"/>
        <p:cNvGrpSpPr/>
        <p:nvPr/>
      </p:nvGrpSpPr>
      <p:grpSpPr>
        <a:xfrm>
          <a:off x="0" y="0"/>
          <a:ext cx="0" cy="0"/>
          <a:chOff x="0" y="0"/>
          <a:chExt cx="0" cy="0"/>
        </a:xfrm>
      </p:grpSpPr>
      <p:sp>
        <p:nvSpPr>
          <p:cNvPr id="135" name="Google Shape;135;p23"/>
          <p:cNvSpPr txBox="1"/>
          <p:nvPr/>
        </p:nvSpPr>
        <p:spPr>
          <a:xfrm>
            <a:off x="1691700" y="2063400"/>
            <a:ext cx="2702400" cy="101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4800" b="1">
                <a:solidFill>
                  <a:schemeClr val="dk1"/>
                </a:solidFill>
                <a:latin typeface="Lexend"/>
                <a:ea typeface="Lexend"/>
                <a:cs typeface="Lexend"/>
                <a:sym typeface="Lexend"/>
              </a:rPr>
              <a:t>THANK</a:t>
            </a:r>
            <a:endParaRPr sz="4800" b="1">
              <a:solidFill>
                <a:schemeClr val="dk1"/>
              </a:solidFill>
              <a:latin typeface="Lexend"/>
              <a:ea typeface="Lexend"/>
              <a:cs typeface="Lexend"/>
              <a:sym typeface="Lexend"/>
            </a:endParaRPr>
          </a:p>
        </p:txBody>
      </p:sp>
      <p:sp>
        <p:nvSpPr>
          <p:cNvPr id="136" name="Google Shape;136;p23"/>
          <p:cNvSpPr txBox="1"/>
          <p:nvPr/>
        </p:nvSpPr>
        <p:spPr>
          <a:xfrm>
            <a:off x="4996805" y="2063400"/>
            <a:ext cx="2702400" cy="101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4800" b="1">
                <a:solidFill>
                  <a:schemeClr val="lt1"/>
                </a:solidFill>
                <a:latin typeface="Lexend"/>
                <a:ea typeface="Lexend"/>
                <a:cs typeface="Lexend"/>
                <a:sym typeface="Lexend"/>
              </a:rPr>
              <a:t>YOU!</a:t>
            </a:r>
            <a:endParaRPr sz="4800" b="1">
              <a:solidFill>
                <a:schemeClr val="lt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4420</Words>
  <Application>WPS Presentation</Application>
  <PresentationFormat>On-screen Show (16:9)</PresentationFormat>
  <Paragraphs>75</Paragraphs>
  <Slides>11</Slides>
  <Notes>11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SimSun</vt:lpstr>
      <vt:lpstr>Wingdings</vt:lpstr>
      <vt:lpstr>Arial</vt:lpstr>
      <vt:lpstr>Raleway</vt:lpstr>
      <vt:lpstr>Lato</vt:lpstr>
      <vt:lpstr>Raleway SemiBold</vt:lpstr>
      <vt:lpstr>Lexend Medium</vt:lpstr>
      <vt:lpstr>Lexend SemiBold</vt:lpstr>
      <vt:lpstr>Lexend</vt:lpstr>
      <vt:lpstr>Microsoft YaHei</vt:lpstr>
      <vt:lpstr>Arial Unicode MS</vt:lpstr>
      <vt:lpstr>Swiss</vt:lpstr>
      <vt:lpstr>CUSTOMER DATA ANALYSIS</vt:lpstr>
      <vt:lpstr>In today’s competitive business landscape, understanding customer behavior is crucial for boosting sales and enhancing customer experience. This project analyzes customer data from multiple shopping malls, covering demographics, product categories, purchase details, and payment methods. Using SQL, key insights were extracted on gender-wise purchasing, category preferences, and age-based buying trends. Power BI dashboards were developed to visualize patterns such as top products, preferred payment modes, and mall-wise revenue. These insights enable businesses to improve targeted marketing, optimize inventory, refine pricing strategies, and strengthen customer engagement.</vt:lpstr>
      <vt:lpstr>PowerPoint 演示文稿</vt:lpstr>
      <vt:lpstr>PowerPoint 演示文稿</vt:lpstr>
      <vt:lpstr>PowerPoint 演示文稿</vt:lpstr>
      <vt:lpstr>PowerPoint 演示文稿</vt:lpstr>
      <vt:lpstr>PowerPoint 演示文稿</vt:lpstr>
      <vt:lpstr>PowerPoint 演示文稿</vt:lpstr>
      <vt:lpstr>6. Overall, the business shows concentrated revenue sources, by targeting underperforming malls, younger age groups, and female customers, total revenue can grow significantly.</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Aditya Intelliworkz</cp:lastModifiedBy>
  <cp:revision>3</cp:revision>
  <dcterms:created xsi:type="dcterms:W3CDTF">2025-11-13T01:44:02Z</dcterms:created>
  <dcterms:modified xsi:type="dcterms:W3CDTF">2025-11-13T01:47:52Z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CF580BC036BB4F489EB85F34ED3AA8FB_12</vt:lpwstr>
  </property>
  <property fmtid="{D5CDD505-2E9C-101B-9397-08002B2CF9AE}" pid="3" name="KSOProductBuildVer">
    <vt:lpwstr>2057-12.2.0.23149</vt:lpwstr>
  </property>
</Properties>
</file>